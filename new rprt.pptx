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10"/>
  </p:notesMasterIdLst>
  <p:sldIdLst>
    <p:sldId id="265" r:id="rId2"/>
    <p:sldId id="266" r:id="rId3"/>
    <p:sldId id="267" r:id="rId4"/>
    <p:sldId id="268" r:id="rId5"/>
    <p:sldId id="269" r:id="rId6"/>
    <p:sldId id="270" r:id="rId7"/>
    <p:sldId id="271" r:id="rId8"/>
    <p:sldId id="27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64B734-EB1C-4693-B1E3-63C2E7225E45}" type="datetimeFigureOut">
              <a:rPr lang="en-IN" smtClean="0"/>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B7FC8-30E8-45D9-B3CB-89EAA30046D8}" type="slidenum">
              <a:rPr lang="en-IN" smtClean="0"/>
              <a:t>‹#›</a:t>
            </a:fld>
            <a:endParaRPr lang="en-IN"/>
          </a:p>
        </p:txBody>
      </p:sp>
    </p:spTree>
    <p:extLst>
      <p:ext uri="{BB962C8B-B14F-4D97-AF65-F5344CB8AC3E}">
        <p14:creationId xmlns:p14="http://schemas.microsoft.com/office/powerpoint/2010/main" val="346000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CA6A-29D7-8B0B-5563-D7BD1DF90D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F9BB9B-8E7C-43DA-321E-76B7A73B74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CCEC82-CCCA-A6BB-A9A4-5F1D1298D4F0}"/>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5" name="Footer Placeholder 4">
            <a:extLst>
              <a:ext uri="{FF2B5EF4-FFF2-40B4-BE49-F238E27FC236}">
                <a16:creationId xmlns:a16="http://schemas.microsoft.com/office/drawing/2014/main" id="{D51F1F21-6808-A6BA-0A72-8EDD315EF5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69C69B-255D-2E20-A61E-489699F21381}"/>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3530136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2D177-FE0E-98EB-9261-98924E0CA8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127955-9DDF-6F71-D475-986F5B5A51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63AEB1-207C-3109-DBF3-26C87E4D0C51}"/>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5" name="Footer Placeholder 4">
            <a:extLst>
              <a:ext uri="{FF2B5EF4-FFF2-40B4-BE49-F238E27FC236}">
                <a16:creationId xmlns:a16="http://schemas.microsoft.com/office/drawing/2014/main" id="{0214D954-A6E8-ED8D-0C51-CE4A6DB495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D3C7E1-36A1-3196-B1E1-1FA1279B8033}"/>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2133429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0C6E-CA0A-B8BB-CBB6-A385064FF7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8C38F5-9805-C100-57F6-0921332791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D20EC1-CA66-E97C-9D0F-0E3A162F78D0}"/>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5" name="Footer Placeholder 4">
            <a:extLst>
              <a:ext uri="{FF2B5EF4-FFF2-40B4-BE49-F238E27FC236}">
                <a16:creationId xmlns:a16="http://schemas.microsoft.com/office/drawing/2014/main" id="{00E5AD37-66B8-F402-5C4A-F22CE63B9A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66484D-A27B-D3AB-4A65-BBB20B98B18B}"/>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1913294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D7DE-66EA-3DE4-0442-EB13544E55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AF35E2-6C21-FABF-2F2F-88137DF606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077CB1-E3DF-D3EE-C35D-102EB2015E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1AF53F-A42D-E26B-B38C-F9DC977A3354}"/>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6" name="Footer Placeholder 5">
            <a:extLst>
              <a:ext uri="{FF2B5EF4-FFF2-40B4-BE49-F238E27FC236}">
                <a16:creationId xmlns:a16="http://schemas.microsoft.com/office/drawing/2014/main" id="{3ACBB998-2FF1-D75E-5BFD-05952CB1E9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2F2E56-7CBF-8806-823D-F84ED3900F41}"/>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1394724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144F-F1A6-9207-88D5-63952F2CC0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AA2577-C025-DAA9-70CD-9F940AD8BD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FD48E0-1277-6F67-036B-970F7BBAC9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78D8E1-4D82-42F7-E159-DAD70C839F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B8BB03-F4FA-570D-E74F-1CCA9DC217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383F916-49C4-C0A3-85B5-622D8C17DB6F}"/>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8" name="Footer Placeholder 7">
            <a:extLst>
              <a:ext uri="{FF2B5EF4-FFF2-40B4-BE49-F238E27FC236}">
                <a16:creationId xmlns:a16="http://schemas.microsoft.com/office/drawing/2014/main" id="{D10F07F4-ECF6-2035-7ACB-EB32F9418D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5802B4-4EC3-2EA2-2F3F-24878935BD91}"/>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1590492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7CE9A-5474-7DCD-A3E8-02984591A0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B05788-D127-4CE1-DF91-92CC128CD191}"/>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4" name="Footer Placeholder 3">
            <a:extLst>
              <a:ext uri="{FF2B5EF4-FFF2-40B4-BE49-F238E27FC236}">
                <a16:creationId xmlns:a16="http://schemas.microsoft.com/office/drawing/2014/main" id="{D398239A-B141-2558-3BA3-9B67E64E8D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EF098C-61E3-4E9D-95A9-64B373503417}"/>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239230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59B10F-0B47-9D49-2BFF-8A6C358CE282}"/>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3" name="Footer Placeholder 2">
            <a:extLst>
              <a:ext uri="{FF2B5EF4-FFF2-40B4-BE49-F238E27FC236}">
                <a16:creationId xmlns:a16="http://schemas.microsoft.com/office/drawing/2014/main" id="{86D4CA7E-A293-0FA6-0881-B18897C471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500341-AD61-B050-F3D4-73D938841AFF}"/>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381003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FFC47-8227-75AA-5F5F-A923F6E1E9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BCDF93-05FC-4C0B-B0A1-3F0F0AE18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F07A7F1-0BD9-E6E0-476A-4CE23105B7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43E79D-CBEA-6F18-41B1-E81D2663FD37}"/>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6" name="Footer Placeholder 5">
            <a:extLst>
              <a:ext uri="{FF2B5EF4-FFF2-40B4-BE49-F238E27FC236}">
                <a16:creationId xmlns:a16="http://schemas.microsoft.com/office/drawing/2014/main" id="{F573235F-8AF5-FF3C-9075-63362D520C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DF6727-46B4-2FE3-FADC-6DAF8414E9A9}"/>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81771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3F8B3-77B0-244A-6D31-E46B26DCB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E06C00-2B08-3B77-7897-EADA020FE1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6B1D90-E991-3D7F-29A2-1D7544BE6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EE62DD-4575-5EAC-9E46-47DD080268C4}"/>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6" name="Footer Placeholder 5">
            <a:extLst>
              <a:ext uri="{FF2B5EF4-FFF2-40B4-BE49-F238E27FC236}">
                <a16:creationId xmlns:a16="http://schemas.microsoft.com/office/drawing/2014/main" id="{06E85AD4-9410-34A2-E7CF-C10CB64A1C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BA81A7-4E00-2755-DCB6-72CE4EB59988}"/>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2188847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044F3-50CE-F6BA-2353-5F86382E83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E9BD30-B2FE-3189-D23C-D9D6148537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886821-17DA-9027-080C-12F7A173A800}"/>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5" name="Footer Placeholder 4">
            <a:extLst>
              <a:ext uri="{FF2B5EF4-FFF2-40B4-BE49-F238E27FC236}">
                <a16:creationId xmlns:a16="http://schemas.microsoft.com/office/drawing/2014/main" id="{3027FF3A-1814-50C7-C338-A0BF45C614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F7216E-216F-36DA-69E5-473F594F9A3C}"/>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3272306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1405AA-6046-EF52-5782-61F18D2EEA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93CCF2-7558-DCDA-E88C-28224E0EF6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7366FF-AB5E-A8B6-A7DD-B6CA021640DB}"/>
              </a:ext>
            </a:extLst>
          </p:cNvPr>
          <p:cNvSpPr>
            <a:spLocks noGrp="1"/>
          </p:cNvSpPr>
          <p:nvPr>
            <p:ph type="dt" sz="half" idx="10"/>
          </p:nvPr>
        </p:nvSpPr>
        <p:spPr/>
        <p:txBody>
          <a:bodyPr/>
          <a:lstStyle/>
          <a:p>
            <a:fld id="{95A5EE8F-F718-47E0-BE40-CBD1458962BA}" type="datetimeFigureOut">
              <a:rPr lang="en-IN" smtClean="0"/>
              <a:t>31-01-2026</a:t>
            </a:fld>
            <a:endParaRPr lang="en-IN"/>
          </a:p>
        </p:txBody>
      </p:sp>
      <p:sp>
        <p:nvSpPr>
          <p:cNvPr id="5" name="Footer Placeholder 4">
            <a:extLst>
              <a:ext uri="{FF2B5EF4-FFF2-40B4-BE49-F238E27FC236}">
                <a16:creationId xmlns:a16="http://schemas.microsoft.com/office/drawing/2014/main" id="{EFDAB4CC-990A-3456-75E1-3258F49788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444579-D702-0F8C-AC8B-B27D81320C0F}"/>
              </a:ext>
            </a:extLst>
          </p:cNvPr>
          <p:cNvSpPr>
            <a:spLocks noGrp="1"/>
          </p:cNvSpPr>
          <p:nvPr>
            <p:ph type="sldNum" sz="quarter" idx="12"/>
          </p:nvPr>
        </p:nvSpPr>
        <p:spPr/>
        <p:txBody>
          <a:bodyPr/>
          <a:lstStyle/>
          <a:p>
            <a:fld id="{4188942D-41BD-44B2-BD54-A1E799F76BF7}" type="slidenum">
              <a:rPr lang="en-IN" smtClean="0"/>
              <a:t>‹#›</a:t>
            </a:fld>
            <a:endParaRPr lang="en-IN"/>
          </a:p>
        </p:txBody>
      </p:sp>
    </p:spTree>
    <p:extLst>
      <p:ext uri="{BB962C8B-B14F-4D97-AF65-F5344CB8AC3E}">
        <p14:creationId xmlns:p14="http://schemas.microsoft.com/office/powerpoint/2010/main" val="487928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ED5C5B-9126-32FB-5D69-4002C12EE9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17F8F0-78FE-2975-2824-60D89F787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E7152-0532-F6C7-D1B8-1CFDD2427F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A5EE8F-F718-47E0-BE40-CBD1458962BA}" type="datetimeFigureOut">
              <a:rPr lang="en-IN" smtClean="0"/>
              <a:t>31-01-2026</a:t>
            </a:fld>
            <a:endParaRPr lang="en-IN"/>
          </a:p>
        </p:txBody>
      </p:sp>
      <p:sp>
        <p:nvSpPr>
          <p:cNvPr id="5" name="Footer Placeholder 4">
            <a:extLst>
              <a:ext uri="{FF2B5EF4-FFF2-40B4-BE49-F238E27FC236}">
                <a16:creationId xmlns:a16="http://schemas.microsoft.com/office/drawing/2014/main" id="{388A4D60-852E-6CC5-CAE6-9EB65EE935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B35AE4-A35E-BFB7-7A1B-2D0795A25B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88942D-41BD-44B2-BD54-A1E799F76BF7}" type="slidenum">
              <a:rPr lang="en-IN" smtClean="0"/>
              <a:t>‹#›</a:t>
            </a:fld>
            <a:endParaRPr lang="en-IN"/>
          </a:p>
        </p:txBody>
      </p:sp>
    </p:spTree>
    <p:extLst>
      <p:ext uri="{BB962C8B-B14F-4D97-AF65-F5344CB8AC3E}">
        <p14:creationId xmlns:p14="http://schemas.microsoft.com/office/powerpoint/2010/main" val="90644579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9" name="Google Shape;99;p13"/>
          <p:cNvSpPr txBox="1"/>
          <p:nvPr/>
        </p:nvSpPr>
        <p:spPr>
          <a:xfrm>
            <a:off x="545234" y="1746012"/>
            <a:ext cx="11646766" cy="5111988"/>
          </a:xfrm>
          <a:prstGeom prst="rect">
            <a:avLst/>
          </a:prstGeom>
          <a:noFill/>
          <a:ln>
            <a:noFill/>
          </a:ln>
        </p:spPr>
        <p:txBody>
          <a:bodyPr spcFirstLastPara="1" wrap="square" lIns="91425" tIns="45700" rIns="91425" bIns="45700" anchor="t" anchorCtr="0">
            <a:noAutofit/>
          </a:bodyPr>
          <a:lstStyle/>
          <a:p>
            <a:pPr algn="ctr">
              <a:buSzPts val="1800"/>
            </a:pPr>
            <a:r>
              <a:rPr lang="en-US" sz="1800" dirty="0"/>
              <a:t>      Department of Computer Science and Engineering</a:t>
            </a:r>
            <a:endParaRPr lang="en-US" sz="1800" b="1" dirty="0">
              <a:latin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  </a:t>
            </a:r>
            <a:r>
              <a:rPr lang="en-US"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REAL-TIME</a:t>
            </a:r>
            <a:r>
              <a:rPr lang="en-US" sz="1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PROJECT REVIEW</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On</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lgn="ctr">
              <a:buClr>
                <a:srgbClr val="000000"/>
              </a:buClr>
              <a:buSzPts val="2400"/>
            </a:pP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dirty="0"/>
              <a:t>Smart Queue and Appointment Management System</a:t>
            </a:r>
            <a:endPar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400"/>
              <a:buFont typeface="Arial" panose="020B0604020202020204"/>
              <a:buNone/>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BACHELOR OF TECHNOLOGY</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COMPUTER SCIENCE AND  ENGINEERING</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Clr>
                <a:srgbClr val="000000"/>
              </a:buClr>
              <a:buSzPts val="1800"/>
              <a:buFont typeface="Arial" panose="020B0604020202020204"/>
              <a:buNone/>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BY</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IN" dirty="0"/>
              <a:t>                                                                                   24VE1A05A9 SHREE PRANAV</a:t>
            </a:r>
          </a:p>
          <a:p>
            <a:r>
              <a:rPr lang="en-IN" dirty="0"/>
              <a:t>                                                                                   24VE1A05A2 Kaveri Podisheti</a:t>
            </a:r>
          </a:p>
          <a:p>
            <a:r>
              <a:rPr lang="en-IN" dirty="0"/>
              <a:t>                                                                                   24VE1A0569 B. Anjali Devi</a:t>
            </a:r>
          </a:p>
          <a:p>
            <a:r>
              <a:rPr lang="en-IN" dirty="0"/>
              <a:t>                                                                                   24VE1A0575 CH. Chandu</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Under the Guidance of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lgn="ctr">
              <a:buClr>
                <a:srgbClr val="000000"/>
              </a:buClr>
              <a:buSzPts val="1800"/>
            </a:pPr>
            <a:r>
              <a:rPr lang="en-US"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Dr .G J BHARAT KUMAR</a:t>
            </a:r>
            <a:endParaRPr lang="en-US" sz="1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0" name="Google Shape;100;p13"/>
          <p:cNvSpPr txBox="1"/>
          <p:nvPr/>
        </p:nvSpPr>
        <p:spPr>
          <a:xfrm>
            <a:off x="11703325" y="1596475"/>
            <a:ext cx="488100" cy="560100"/>
          </a:xfrm>
          <a:prstGeom prst="rect">
            <a:avLst/>
          </a:prstGeom>
          <a:solidFill>
            <a:srgbClr val="FFFFF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Libre Franklin" panose="00000500000000000000"/>
              <a:ea typeface="Libre Franklin" panose="00000500000000000000"/>
              <a:cs typeface="Libre Franklin" panose="00000500000000000000"/>
              <a:sym typeface="Libre Franklin" panose="00000500000000000000"/>
            </a:endParaRPr>
          </a:p>
        </p:txBody>
      </p:sp>
      <p:graphicFrame>
        <p:nvGraphicFramePr>
          <p:cNvPr id="2" name="Table 1">
            <a:extLst>
              <a:ext uri="{FF2B5EF4-FFF2-40B4-BE49-F238E27FC236}">
                <a16:creationId xmlns:a16="http://schemas.microsoft.com/office/drawing/2014/main" id="{0384EBB2-FD11-6F7F-3C3D-D52A927B2754}"/>
              </a:ext>
            </a:extLst>
          </p:cNvPr>
          <p:cNvGraphicFramePr>
            <a:graphicFrameLocks noGrp="1"/>
          </p:cNvGraphicFramePr>
          <p:nvPr/>
        </p:nvGraphicFramePr>
        <p:xfrm>
          <a:off x="471068" y="146884"/>
          <a:ext cx="11129805" cy="1615440"/>
        </p:xfrm>
        <a:graphic>
          <a:graphicData uri="http://schemas.openxmlformats.org/drawingml/2006/table">
            <a:tbl>
              <a:tblPr>
                <a:tableStyleId>{5C22544A-7EE6-4342-B048-85BDC9FD1C3A}</a:tableStyleId>
              </a:tblPr>
              <a:tblGrid>
                <a:gridCol w="11129805">
                  <a:extLst>
                    <a:ext uri="{9D8B030D-6E8A-4147-A177-3AD203B41FA5}">
                      <a16:colId xmlns:a16="http://schemas.microsoft.com/office/drawing/2014/main" val="3278772442"/>
                    </a:ext>
                  </a:extLst>
                </a:gridCol>
              </a:tblGrid>
              <a:tr h="364783">
                <a:tc>
                  <a:txBody>
                    <a:bodyPr/>
                    <a:lstStyle/>
                    <a:p>
                      <a:pPr algn="ctr" fontAlgn="b">
                        <a:buNone/>
                      </a:pPr>
                      <a:r>
                        <a:rPr lang="en-US" sz="2800" u="none" strike="noStrike" dirty="0">
                          <a:effectLst/>
                        </a:rPr>
                        <a:t>                Sreyas Institute of Engineering and Technology</a:t>
                      </a:r>
                      <a:endParaRPr lang="en-US" sz="12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990798824"/>
                  </a:ext>
                </a:extLst>
              </a:tr>
              <a:tr h="273199">
                <a:tc>
                  <a:txBody>
                    <a:bodyPr/>
                    <a:lstStyle/>
                    <a:p>
                      <a:pPr algn="ctr" fontAlgn="ctr">
                        <a:buNone/>
                      </a:pPr>
                      <a:r>
                        <a:rPr lang="en-IN" sz="2400" u="none" strike="noStrike" dirty="0">
                          <a:effectLst/>
                        </a:rPr>
                        <a:t>An Autonomous Institution</a:t>
                      </a:r>
                      <a:endParaRPr lang="en-IN" sz="2400" b="1" i="1" u="none" strike="noStrike" dirty="0">
                        <a:solidFill>
                          <a:srgbClr val="FF0000"/>
                        </a:solidFill>
                        <a:effectLst/>
                        <a:latin typeface="Sitka Heading" pitchFamily="2" charset="0"/>
                      </a:endParaRPr>
                    </a:p>
                  </a:txBody>
                  <a:tcPr marL="0" marR="0" marT="0" marB="0" anchor="ctr"/>
                </a:tc>
                <a:extLst>
                  <a:ext uri="{0D108BD9-81ED-4DB2-BD59-A6C34878D82A}">
                    <a16:rowId xmlns:a16="http://schemas.microsoft.com/office/drawing/2014/main" val="586826775"/>
                  </a:ext>
                </a:extLst>
              </a:tr>
              <a:tr h="248364">
                <a:tc>
                  <a:txBody>
                    <a:bodyPr/>
                    <a:lstStyle/>
                    <a:p>
                      <a:pPr algn="ctr" fontAlgn="ctr">
                        <a:buNone/>
                      </a:pPr>
                      <a:r>
                        <a:rPr lang="en-US" sz="2000" u="none" strike="noStrike" dirty="0">
                          <a:effectLst/>
                        </a:rPr>
                        <a:t>Approved by AICTE, Affiliated to JNTUH</a:t>
                      </a:r>
                    </a:p>
                  </a:txBody>
                  <a:tcPr marL="0" marR="0" marT="0" marB="0" anchor="ctr"/>
                </a:tc>
                <a:extLst>
                  <a:ext uri="{0D108BD9-81ED-4DB2-BD59-A6C34878D82A}">
                    <a16:rowId xmlns:a16="http://schemas.microsoft.com/office/drawing/2014/main" val="948727584"/>
                  </a:ext>
                </a:extLst>
              </a:tr>
              <a:tr h="449481">
                <a:tc>
                  <a:txBody>
                    <a:bodyPr/>
                    <a:lstStyle/>
                    <a:p>
                      <a:pPr algn="ctr" fontAlgn="ctr">
                        <a:buNone/>
                      </a:pPr>
                      <a:r>
                        <a:rPr lang="en-US" sz="1600" b="0" i="0" u="none" strike="noStrike" cap="none" dirty="0">
                          <a:solidFill>
                            <a:schemeClr val="dk1"/>
                          </a:solidFill>
                          <a:effectLst/>
                          <a:latin typeface="+mn-lt"/>
                          <a:ea typeface="+mn-ea"/>
                          <a:cs typeface="+mn-cs"/>
                          <a:sym typeface="Arial" panose="020B0604020202020204"/>
                        </a:rPr>
                        <a:t> </a:t>
                      </a:r>
                      <a:r>
                        <a:rPr lang="en-US" sz="1800" b="0" i="0" u="none" strike="noStrike" cap="none" dirty="0">
                          <a:solidFill>
                            <a:schemeClr val="dk1"/>
                          </a:solidFill>
                          <a:effectLst/>
                          <a:latin typeface="+mn-lt"/>
                          <a:ea typeface="+mn-ea"/>
                          <a:cs typeface="+mn-cs"/>
                          <a:sym typeface="Arial" panose="020B0604020202020204"/>
                        </a:rPr>
                        <a:t>Accredited by NAAC-A Grade, NBA (CSE, ECE &amp; ME) &amp; ISO 9001:2015 Certified</a:t>
                      </a:r>
                      <a:endParaRPr lang="en-US" sz="1800" u="none" strike="noStrike" dirty="0">
                        <a:effectLst/>
                      </a:endParaRPr>
                    </a:p>
                    <a:p>
                      <a:pPr algn="ctr" fontAlgn="ctr">
                        <a:buNone/>
                      </a:pPr>
                      <a:endParaRPr lang="en-US" sz="1600" u="none" strike="noStrike" dirty="0">
                        <a:effectLst/>
                      </a:endParaRPr>
                    </a:p>
                  </a:txBody>
                  <a:tcPr marL="0" marR="0" marT="0" marB="0" anchor="ctr"/>
                </a:tc>
                <a:extLst>
                  <a:ext uri="{0D108BD9-81ED-4DB2-BD59-A6C34878D82A}">
                    <a16:rowId xmlns:a16="http://schemas.microsoft.com/office/drawing/2014/main" val="3084898476"/>
                  </a:ext>
                </a:extLst>
              </a:tr>
            </a:tbl>
          </a:graphicData>
        </a:graphic>
      </p:graphicFrame>
      <p:pic>
        <p:nvPicPr>
          <p:cNvPr id="3" name="Picture 2">
            <a:extLst>
              <a:ext uri="{FF2B5EF4-FFF2-40B4-BE49-F238E27FC236}">
                <a16:creationId xmlns:a16="http://schemas.microsoft.com/office/drawing/2014/main" id="{00000000-0008-0000-0200-000002000000}"/>
              </a:ext>
            </a:extLst>
          </p:cNvPr>
          <p:cNvPicPr>
            <a:picLocks noChangeAspect="1" noChangeArrowheads="1"/>
          </p:cNvPicPr>
          <p:nvPr/>
        </p:nvPicPr>
        <p:blipFill>
          <a:blip r:embed="rId3" cstate="print"/>
          <a:srcRect/>
          <a:stretch>
            <a:fillRect/>
          </a:stretch>
        </p:blipFill>
        <p:spPr bwMode="auto">
          <a:xfrm>
            <a:off x="119336" y="260648"/>
            <a:ext cx="1728193" cy="1197332"/>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5B40B-9037-FCDD-AA48-9E7B48CF4179}"/>
              </a:ext>
            </a:extLst>
          </p:cNvPr>
          <p:cNvSpPr>
            <a:spLocks noGrp="1"/>
          </p:cNvSpPr>
          <p:nvPr>
            <p:ph type="title"/>
          </p:nvPr>
        </p:nvSpPr>
        <p:spPr>
          <a:xfrm>
            <a:off x="829056" y="374269"/>
            <a:ext cx="10515600" cy="1325563"/>
          </a:xfrm>
        </p:spPr>
        <p:txBody>
          <a:bodyPr/>
          <a:lstStyle/>
          <a:p>
            <a:r>
              <a:rPr lang="en-IN" dirty="0"/>
              <a:t>Abstract</a:t>
            </a:r>
          </a:p>
        </p:txBody>
      </p:sp>
      <p:sp>
        <p:nvSpPr>
          <p:cNvPr id="3" name="Content Placeholder 2">
            <a:extLst>
              <a:ext uri="{FF2B5EF4-FFF2-40B4-BE49-F238E27FC236}">
                <a16:creationId xmlns:a16="http://schemas.microsoft.com/office/drawing/2014/main" id="{1D33BEA4-ED6D-6831-0E4B-D2853565911D}"/>
              </a:ext>
            </a:extLst>
          </p:cNvPr>
          <p:cNvSpPr>
            <a:spLocks noGrp="1"/>
          </p:cNvSpPr>
          <p:nvPr>
            <p:ph idx="1"/>
          </p:nvPr>
        </p:nvSpPr>
        <p:spPr>
          <a:xfrm>
            <a:off x="838200" y="1582547"/>
            <a:ext cx="10515600" cy="4910328"/>
          </a:xfrm>
        </p:spPr>
        <p:txBody>
          <a:bodyPr>
            <a:normAutofit/>
          </a:bodyPr>
          <a:lstStyle/>
          <a:p>
            <a:pPr marL="0" indent="0" algn="just">
              <a:buNone/>
            </a:pPr>
            <a:r>
              <a:rPr lang="en-US" sz="2400" dirty="0"/>
              <a:t>The Smart Queue and Appointment Management System is a web-based, cloud-enabled application that helps manage appointments and queues in places such as hospitals, banks, and government offices. Users can book appointments online, receive queue tokens, and view real-time queue status along with estimated waiting time, which helps reduce overcrowding and long waits. The system supports multiple services and departments and stores data securely in a cloud-based MySQL database. It is built using Java Servlets for the backend and HTML, CSS, and JavaScript for the frontend, making it efficient, user-friendly, and easily scalable for future features like priority handling, notifications, and analytics.</a:t>
            </a:r>
          </a:p>
        </p:txBody>
      </p:sp>
    </p:spTree>
    <p:extLst>
      <p:ext uri="{BB962C8B-B14F-4D97-AF65-F5344CB8AC3E}">
        <p14:creationId xmlns:p14="http://schemas.microsoft.com/office/powerpoint/2010/main" val="3571001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5DA3E-F380-D54F-FD21-D511E71B18FF}"/>
              </a:ext>
            </a:extLst>
          </p:cNvPr>
          <p:cNvSpPr>
            <a:spLocks noGrp="1"/>
          </p:cNvSpPr>
          <p:nvPr>
            <p:ph type="title"/>
          </p:nvPr>
        </p:nvSpPr>
        <p:spPr/>
        <p:txBody>
          <a:bodyPr/>
          <a:lstStyle/>
          <a:p>
            <a:r>
              <a:rPr lang="en-IN" dirty="0"/>
              <a:t>Existing System</a:t>
            </a:r>
          </a:p>
        </p:txBody>
      </p:sp>
      <p:sp>
        <p:nvSpPr>
          <p:cNvPr id="3" name="Content Placeholder 2">
            <a:extLst>
              <a:ext uri="{FF2B5EF4-FFF2-40B4-BE49-F238E27FC236}">
                <a16:creationId xmlns:a16="http://schemas.microsoft.com/office/drawing/2014/main" id="{5BAF0AE5-18C2-609D-9150-2A798D7ED66A}"/>
              </a:ext>
            </a:extLst>
          </p:cNvPr>
          <p:cNvSpPr>
            <a:spLocks noGrp="1"/>
          </p:cNvSpPr>
          <p:nvPr>
            <p:ph idx="1"/>
          </p:nvPr>
        </p:nvSpPr>
        <p:spPr>
          <a:xfrm>
            <a:off x="838200" y="1690688"/>
            <a:ext cx="10515600" cy="4351338"/>
          </a:xfrm>
        </p:spPr>
        <p:txBody>
          <a:bodyPr>
            <a:normAutofit/>
          </a:bodyPr>
          <a:lstStyle/>
          <a:p>
            <a:pPr marL="0" indent="0" algn="just">
              <a:buNone/>
            </a:pPr>
            <a:r>
              <a:rPr lang="en-US" sz="2400" dirty="0"/>
              <a:t>In many hospitals, banks, and government offices, queue and appointment management is still handled using manual or semi-manual methods. Users usually have to visit the service center in person to book appointments or collect tokens, which are often issued using paper slips or simple token machines. They are then required to wait on-site until their turn arrives. These systems do not offer real-time queue updates or waiting time estimates. Handling delays, cancellations, or emergency cases is done manually by staff, which often results in confusion, inefficiency, and longer waiting times.</a:t>
            </a:r>
          </a:p>
        </p:txBody>
      </p:sp>
    </p:spTree>
    <p:extLst>
      <p:ext uri="{BB962C8B-B14F-4D97-AF65-F5344CB8AC3E}">
        <p14:creationId xmlns:p14="http://schemas.microsoft.com/office/powerpoint/2010/main" val="1649297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DEB99-63F6-6E9E-A235-55AC3147A522}"/>
              </a:ext>
            </a:extLst>
          </p:cNvPr>
          <p:cNvSpPr>
            <a:spLocks noGrp="1"/>
          </p:cNvSpPr>
          <p:nvPr>
            <p:ph type="title"/>
          </p:nvPr>
        </p:nvSpPr>
        <p:spPr/>
        <p:txBody>
          <a:bodyPr/>
          <a:lstStyle/>
          <a:p>
            <a:r>
              <a:rPr lang="en-IN" dirty="0"/>
              <a:t>Demerits of existing system</a:t>
            </a:r>
          </a:p>
        </p:txBody>
      </p:sp>
      <p:sp>
        <p:nvSpPr>
          <p:cNvPr id="3" name="Content Placeholder 2">
            <a:extLst>
              <a:ext uri="{FF2B5EF4-FFF2-40B4-BE49-F238E27FC236}">
                <a16:creationId xmlns:a16="http://schemas.microsoft.com/office/drawing/2014/main" id="{5A4A5D15-E857-AC40-8260-C61DFE534842}"/>
              </a:ext>
            </a:extLst>
          </p:cNvPr>
          <p:cNvSpPr>
            <a:spLocks noGrp="1"/>
          </p:cNvSpPr>
          <p:nvPr>
            <p:ph idx="1"/>
          </p:nvPr>
        </p:nvSpPr>
        <p:spPr>
          <a:xfrm>
            <a:off x="902208" y="1755648"/>
            <a:ext cx="10451592" cy="5102352"/>
          </a:xfrm>
        </p:spPr>
        <p:txBody>
          <a:bodyPr>
            <a:noAutofit/>
          </a:bodyPr>
          <a:lstStyle/>
          <a:p>
            <a:pPr marL="0" indent="0" algn="just">
              <a:buNone/>
            </a:pPr>
            <a:r>
              <a:rPr lang="en-US" sz="2200" dirty="0"/>
              <a:t>-Long and Uncertain Waiting Time – Users have to wait physically without knowing when their turn will come.</a:t>
            </a:r>
          </a:p>
          <a:p>
            <a:pPr marL="0" indent="0" algn="just">
              <a:buNone/>
            </a:pPr>
            <a:r>
              <a:rPr lang="en-US" sz="2200" dirty="0"/>
              <a:t>-No Online Booking – Appointments must be taken in person, causing crowding at service counters.</a:t>
            </a:r>
          </a:p>
          <a:p>
            <a:pPr marL="0" indent="0" algn="just">
              <a:buNone/>
            </a:pPr>
            <a:r>
              <a:rPr lang="en-US" sz="2200" dirty="0"/>
              <a:t>-No Real-Time Queue Updates – Users are not informed about queue progress or delays.</a:t>
            </a:r>
          </a:p>
          <a:p>
            <a:pPr marL="0" indent="0" algn="just">
              <a:buNone/>
            </a:pPr>
            <a:r>
              <a:rPr lang="en-US" sz="2200" dirty="0"/>
              <a:t>-Manual Errors and Data Issues – Paper-based systems often lead to mistakes, duplication, or data loss.</a:t>
            </a:r>
          </a:p>
          <a:p>
            <a:pPr marL="0" indent="0" algn="just">
              <a:buNone/>
            </a:pPr>
            <a:r>
              <a:rPr lang="en-US" sz="2200" dirty="0"/>
              <a:t>-Inefficient Resource Management – Staff cannot properly manage counters or service flow due to lack of insights.</a:t>
            </a:r>
          </a:p>
          <a:p>
            <a:pPr marL="0" indent="0" algn="just">
              <a:buNone/>
            </a:pPr>
            <a:r>
              <a:rPr lang="en-US" sz="2200" dirty="0"/>
              <a:t>-Poor Scalability and User Convenience – Traditional systems struggle with high volume and force users to stay on-site.</a:t>
            </a:r>
          </a:p>
          <a:p>
            <a:pPr algn="just"/>
            <a:endParaRPr lang="en-IN" sz="2200" dirty="0"/>
          </a:p>
        </p:txBody>
      </p:sp>
      <p:sp>
        <p:nvSpPr>
          <p:cNvPr id="4" name="Rectangle 1">
            <a:extLst>
              <a:ext uri="{FF2B5EF4-FFF2-40B4-BE49-F238E27FC236}">
                <a16:creationId xmlns:a16="http://schemas.microsoft.com/office/drawing/2014/main" id="{65A5B84D-8E68-9FF5-A840-A49249E9E8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No Real-Time Queue Updates</a:t>
            </a:r>
            <a:r>
              <a:rPr kumimoji="0" lang="en-US" altLang="en-US" sz="1800" b="0" i="0" u="none" strike="noStrike" cap="none" normalizeH="0" baseline="0">
                <a:ln>
                  <a:noFill/>
                </a:ln>
                <a:solidFill>
                  <a:schemeClr val="tx1"/>
                </a:solidFill>
                <a:effectLst/>
                <a:latin typeface="Arial" panose="020B0604020202020204" pitchFamily="34" charset="0"/>
              </a:rPr>
              <a:t> – Users are not informed about queue progress or delays.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5717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B0BA1-5112-F6AB-BF7F-AE0EA6A95BD4}"/>
              </a:ext>
            </a:extLst>
          </p:cNvPr>
          <p:cNvSpPr>
            <a:spLocks noGrp="1"/>
          </p:cNvSpPr>
          <p:nvPr>
            <p:ph type="title"/>
          </p:nvPr>
        </p:nvSpPr>
        <p:spPr/>
        <p:txBody>
          <a:bodyPr/>
          <a:lstStyle/>
          <a:p>
            <a:r>
              <a:rPr lang="en-IN" dirty="0"/>
              <a:t>Proposed System</a:t>
            </a:r>
          </a:p>
        </p:txBody>
      </p:sp>
      <p:sp>
        <p:nvSpPr>
          <p:cNvPr id="3" name="Content Placeholder 2">
            <a:extLst>
              <a:ext uri="{FF2B5EF4-FFF2-40B4-BE49-F238E27FC236}">
                <a16:creationId xmlns:a16="http://schemas.microsoft.com/office/drawing/2014/main" id="{A3794D20-6BBA-F527-B643-5E217FCCF314}"/>
              </a:ext>
            </a:extLst>
          </p:cNvPr>
          <p:cNvSpPr>
            <a:spLocks noGrp="1"/>
          </p:cNvSpPr>
          <p:nvPr>
            <p:ph idx="1"/>
          </p:nvPr>
        </p:nvSpPr>
        <p:spPr/>
        <p:txBody>
          <a:bodyPr>
            <a:normAutofit/>
          </a:bodyPr>
          <a:lstStyle/>
          <a:p>
            <a:pPr marL="0" indent="0" algn="just">
              <a:buNone/>
            </a:pPr>
            <a:r>
              <a:rPr lang="en-US" sz="2400" dirty="0"/>
              <a:t>The proposed system is a Smart Queue and Appointment Management System, a web-based application that automates appointment booking and queue handling for places such as hospitals, banks, and government offices. Users can book appointments online, receive queue tokens, and view real-time queue status with estimated waiting time. An admin module enables administrators to monitor the queue, manage appointments, and control service flow efficiently. The system supports multiple services and departments and securely stores data in a cloud-based MySQL database. Developed using Java Servlets for the backend and HTML, CSS, and JavaScript for the frontend, the system reduces manual work and improves overall service efficiency.</a:t>
            </a:r>
            <a:endParaRPr lang="en-IN" sz="2400" dirty="0"/>
          </a:p>
        </p:txBody>
      </p:sp>
    </p:spTree>
    <p:extLst>
      <p:ext uri="{BB962C8B-B14F-4D97-AF65-F5344CB8AC3E}">
        <p14:creationId xmlns:p14="http://schemas.microsoft.com/office/powerpoint/2010/main" val="1759639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EE7B-7343-C25A-839E-79FF14801BF9}"/>
              </a:ext>
            </a:extLst>
          </p:cNvPr>
          <p:cNvSpPr>
            <a:spLocks noGrp="1"/>
          </p:cNvSpPr>
          <p:nvPr>
            <p:ph type="title"/>
          </p:nvPr>
        </p:nvSpPr>
        <p:spPr/>
        <p:txBody>
          <a:bodyPr/>
          <a:lstStyle/>
          <a:p>
            <a:r>
              <a:rPr lang="en-IN" dirty="0"/>
              <a:t>Merits of the proposed system</a:t>
            </a:r>
          </a:p>
        </p:txBody>
      </p:sp>
      <p:sp>
        <p:nvSpPr>
          <p:cNvPr id="3" name="Content Placeholder 2">
            <a:extLst>
              <a:ext uri="{FF2B5EF4-FFF2-40B4-BE49-F238E27FC236}">
                <a16:creationId xmlns:a16="http://schemas.microsoft.com/office/drawing/2014/main" id="{1008AA54-857A-0C1D-5390-7291416D276C}"/>
              </a:ext>
            </a:extLst>
          </p:cNvPr>
          <p:cNvSpPr>
            <a:spLocks noGrp="1"/>
          </p:cNvSpPr>
          <p:nvPr>
            <p:ph idx="1"/>
          </p:nvPr>
        </p:nvSpPr>
        <p:spPr>
          <a:xfrm>
            <a:off x="911352" y="1644016"/>
            <a:ext cx="10442448" cy="5092573"/>
          </a:xfrm>
        </p:spPr>
        <p:txBody>
          <a:bodyPr>
            <a:noAutofit/>
          </a:bodyPr>
          <a:lstStyle/>
          <a:p>
            <a:pPr marL="0" indent="0" algn="just">
              <a:buNone/>
            </a:pPr>
            <a:r>
              <a:rPr lang="en-US" sz="2200" dirty="0"/>
              <a:t>-Reduced Waiting Time – Users can view real-time queue status and estimated waiting time.</a:t>
            </a:r>
          </a:p>
          <a:p>
            <a:pPr marL="0" indent="0" algn="just">
              <a:buNone/>
            </a:pPr>
            <a:r>
              <a:rPr lang="en-US" sz="2200" dirty="0"/>
              <a:t>-Online Appointment Booking – Appointments can be booked remotely, reducing overcrowding.</a:t>
            </a:r>
          </a:p>
          <a:p>
            <a:pPr marL="0" indent="0" algn="just">
              <a:buNone/>
            </a:pPr>
            <a:r>
              <a:rPr lang="en-US" sz="2200" dirty="0"/>
              <a:t>-Efficient Queue Management – Admins can monitor and control the queue through an admin panel.</a:t>
            </a:r>
          </a:p>
          <a:p>
            <a:pPr marL="0" indent="0" algn="just">
              <a:buNone/>
            </a:pPr>
            <a:r>
              <a:rPr lang="en-US" sz="2200" dirty="0"/>
              <a:t>-Cloud-Based Database – Data is securely stored and accessible from anywhere.</a:t>
            </a:r>
          </a:p>
          <a:p>
            <a:pPr marL="0" indent="0" algn="just">
              <a:buNone/>
            </a:pPr>
            <a:r>
              <a:rPr lang="en-US" sz="2200" dirty="0"/>
              <a:t>-Real-Time Updates – Live queue progress improves transparency and user experience.</a:t>
            </a:r>
          </a:p>
          <a:p>
            <a:pPr marL="0" indent="0" algn="just">
              <a:buNone/>
            </a:pPr>
            <a:r>
              <a:rPr lang="en-US" sz="2200" dirty="0"/>
              <a:t>-Scalable for Multiple Services – Supports hospitals, banks, and other service environments.</a:t>
            </a:r>
          </a:p>
          <a:p>
            <a:pPr marL="0" indent="0" algn="just">
              <a:buNone/>
            </a:pPr>
            <a:r>
              <a:rPr lang="en-US" sz="2200" dirty="0"/>
              <a:t>-Reduced Manual Work &amp; Errors – Automation minimizes paperwork and human errors.</a:t>
            </a:r>
            <a:endParaRPr lang="en-IN" sz="2200" dirty="0"/>
          </a:p>
        </p:txBody>
      </p:sp>
    </p:spTree>
    <p:extLst>
      <p:ext uri="{BB962C8B-B14F-4D97-AF65-F5344CB8AC3E}">
        <p14:creationId xmlns:p14="http://schemas.microsoft.com/office/powerpoint/2010/main" val="3985318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A39D-CD4F-3B05-9217-943811E21F3F}"/>
              </a:ext>
            </a:extLst>
          </p:cNvPr>
          <p:cNvSpPr>
            <a:spLocks noGrp="1"/>
          </p:cNvSpPr>
          <p:nvPr>
            <p:ph type="title"/>
          </p:nvPr>
        </p:nvSpPr>
        <p:spPr/>
        <p:txBody>
          <a:bodyPr>
            <a:normAutofit/>
          </a:bodyPr>
          <a:lstStyle/>
          <a:p>
            <a:r>
              <a:rPr lang="en-IN" sz="3600" dirty="0"/>
              <a:t>Software and hardware requirements </a:t>
            </a:r>
          </a:p>
        </p:txBody>
      </p:sp>
      <p:graphicFrame>
        <p:nvGraphicFramePr>
          <p:cNvPr id="5" name="Table 4">
            <a:extLst>
              <a:ext uri="{FF2B5EF4-FFF2-40B4-BE49-F238E27FC236}">
                <a16:creationId xmlns:a16="http://schemas.microsoft.com/office/drawing/2014/main" id="{8F61E052-1574-06E4-B917-2398F5888E39}"/>
              </a:ext>
            </a:extLst>
          </p:cNvPr>
          <p:cNvGraphicFramePr>
            <a:graphicFrameLocks noGrp="1"/>
          </p:cNvGraphicFramePr>
          <p:nvPr>
            <p:extLst>
              <p:ext uri="{D42A27DB-BD31-4B8C-83A1-F6EECF244321}">
                <p14:modId xmlns:p14="http://schemas.microsoft.com/office/powerpoint/2010/main" val="825008610"/>
              </p:ext>
            </p:extLst>
          </p:nvPr>
        </p:nvGraphicFramePr>
        <p:xfrm>
          <a:off x="838200" y="1828800"/>
          <a:ext cx="10235184" cy="3639311"/>
        </p:xfrm>
        <a:graphic>
          <a:graphicData uri="http://schemas.openxmlformats.org/drawingml/2006/table">
            <a:tbl>
              <a:tblPr firstRow="1" bandRow="1">
                <a:tableStyleId>{5C22544A-7EE6-4342-B048-85BDC9FD1C3A}</a:tableStyleId>
              </a:tblPr>
              <a:tblGrid>
                <a:gridCol w="5117592">
                  <a:extLst>
                    <a:ext uri="{9D8B030D-6E8A-4147-A177-3AD203B41FA5}">
                      <a16:colId xmlns:a16="http://schemas.microsoft.com/office/drawing/2014/main" val="2028245431"/>
                    </a:ext>
                  </a:extLst>
                </a:gridCol>
                <a:gridCol w="5117592">
                  <a:extLst>
                    <a:ext uri="{9D8B030D-6E8A-4147-A177-3AD203B41FA5}">
                      <a16:colId xmlns:a16="http://schemas.microsoft.com/office/drawing/2014/main" val="341372588"/>
                    </a:ext>
                  </a:extLst>
                </a:gridCol>
              </a:tblGrid>
              <a:tr h="539575">
                <a:tc>
                  <a:txBody>
                    <a:bodyPr/>
                    <a:lstStyle/>
                    <a:p>
                      <a:pPr algn="l"/>
                      <a:r>
                        <a:rPr lang="en-IN" dirty="0">
                          <a:solidFill>
                            <a:schemeClr val="tx1"/>
                          </a:solidFill>
                        </a:rPr>
                        <a:t>Software Requirements</a:t>
                      </a:r>
                    </a:p>
                  </a:txBody>
                  <a:tcPr>
                    <a:noFill/>
                  </a:tcPr>
                </a:tc>
                <a:tc>
                  <a:txBody>
                    <a:bodyPr/>
                    <a:lstStyle/>
                    <a:p>
                      <a:pPr algn="l"/>
                      <a:r>
                        <a:rPr lang="en-IN" dirty="0">
                          <a:solidFill>
                            <a:schemeClr val="tx1"/>
                          </a:solidFill>
                        </a:rPr>
                        <a:t>Hardware Requirements</a:t>
                      </a:r>
                    </a:p>
                  </a:txBody>
                  <a:tcPr>
                    <a:noFill/>
                  </a:tcPr>
                </a:tc>
                <a:extLst>
                  <a:ext uri="{0D108BD9-81ED-4DB2-BD59-A6C34878D82A}">
                    <a16:rowId xmlns:a16="http://schemas.microsoft.com/office/drawing/2014/main" val="2377437210"/>
                  </a:ext>
                </a:extLst>
              </a:tr>
              <a:tr h="853387">
                <a:tc>
                  <a:txBody>
                    <a:bodyPr/>
                    <a:lstStyle/>
                    <a:p>
                      <a:pPr algn="l"/>
                      <a:r>
                        <a:rPr lang="en-IN" dirty="0"/>
                        <a:t>Frontend: HTML, CSS, JavaScript</a:t>
                      </a:r>
                    </a:p>
                  </a:txBody>
                  <a:tcPr>
                    <a:noFill/>
                  </a:tcPr>
                </a:tc>
                <a:tc>
                  <a:txBody>
                    <a:bodyPr/>
                    <a:lstStyle/>
                    <a:p>
                      <a:pPr algn="l"/>
                      <a:r>
                        <a:rPr lang="en-US" b="0" dirty="0"/>
                        <a:t>Processor – Intel i3 / AMD Ryzen 3 or higher</a:t>
                      </a:r>
                      <a:endParaRPr lang="en-IN" b="0" dirty="0"/>
                    </a:p>
                  </a:txBody>
                  <a:tcPr>
                    <a:noFill/>
                  </a:tcPr>
                </a:tc>
                <a:extLst>
                  <a:ext uri="{0D108BD9-81ED-4DB2-BD59-A6C34878D82A}">
                    <a16:rowId xmlns:a16="http://schemas.microsoft.com/office/drawing/2014/main" val="1247017070"/>
                  </a:ext>
                </a:extLst>
              </a:tr>
              <a:tr h="853387">
                <a:tc>
                  <a:txBody>
                    <a:bodyPr/>
                    <a:lstStyle/>
                    <a:p>
                      <a:pPr algn="l"/>
                      <a:r>
                        <a:rPr lang="en-IN" dirty="0"/>
                        <a:t>Backend : Java(using Apache Tomcat)</a:t>
                      </a:r>
                    </a:p>
                  </a:txBody>
                  <a:tcPr>
                    <a:noFill/>
                  </a:tcPr>
                </a:tc>
                <a:tc>
                  <a:txBody>
                    <a:bodyPr/>
                    <a:lstStyle/>
                    <a:p>
                      <a:pPr algn="l"/>
                      <a:r>
                        <a:rPr lang="en-US" b="0" dirty="0"/>
                        <a:t>RAM – Minimum 4 GB (8 GB recommended)</a:t>
                      </a:r>
                      <a:endParaRPr lang="en-IN" b="0" dirty="0"/>
                    </a:p>
                  </a:txBody>
                  <a:tcPr>
                    <a:noFill/>
                  </a:tcPr>
                </a:tc>
                <a:extLst>
                  <a:ext uri="{0D108BD9-81ED-4DB2-BD59-A6C34878D82A}">
                    <a16:rowId xmlns:a16="http://schemas.microsoft.com/office/drawing/2014/main" val="2680628503"/>
                  </a:ext>
                </a:extLst>
              </a:tr>
              <a:tr h="539575">
                <a:tc>
                  <a:txBody>
                    <a:bodyPr/>
                    <a:lstStyle/>
                    <a:p>
                      <a:pPr algn="l"/>
                      <a:r>
                        <a:rPr lang="en-IN" dirty="0"/>
                        <a:t>Cloud Database: MySQL  (Supabase)</a:t>
                      </a:r>
                    </a:p>
                  </a:txBody>
                  <a:tcPr>
                    <a:noFill/>
                  </a:tcPr>
                </a:tc>
                <a:tc>
                  <a:txBody>
                    <a:bodyPr/>
                    <a:lstStyle/>
                    <a:p>
                      <a:pPr algn="l"/>
                      <a:r>
                        <a:rPr lang="en-US" b="0" dirty="0"/>
                        <a:t>Storage – 10 GB free disk space</a:t>
                      </a:r>
                      <a:endParaRPr lang="en-IN" b="0" dirty="0"/>
                    </a:p>
                  </a:txBody>
                  <a:tcPr>
                    <a:noFill/>
                  </a:tcPr>
                </a:tc>
                <a:extLst>
                  <a:ext uri="{0D108BD9-81ED-4DB2-BD59-A6C34878D82A}">
                    <a16:rowId xmlns:a16="http://schemas.microsoft.com/office/drawing/2014/main" val="230122432"/>
                  </a:ext>
                </a:extLst>
              </a:tr>
              <a:tr h="853387">
                <a:tc>
                  <a:txBody>
                    <a:bodyPr/>
                    <a:lstStyle/>
                    <a:p>
                      <a:pPr algn="l"/>
                      <a:r>
                        <a:rPr lang="en-IN" dirty="0"/>
                        <a:t>OS/web browser :Windows OS/ Any</a:t>
                      </a:r>
                    </a:p>
                  </a:txBody>
                  <a:tcPr>
                    <a:noFill/>
                  </a:tcPr>
                </a:tc>
                <a:tc>
                  <a:txBody>
                    <a:bodyPr/>
                    <a:lstStyle/>
                    <a:p>
                      <a:pPr algn="l"/>
                      <a:r>
                        <a:rPr lang="en-US" b="0" dirty="0"/>
                        <a:t>Internet Connection – Required (for cloud database access)</a:t>
                      </a:r>
                      <a:endParaRPr lang="en-IN" b="0" dirty="0"/>
                    </a:p>
                  </a:txBody>
                  <a:tcPr>
                    <a:noFill/>
                  </a:tcPr>
                </a:tc>
                <a:extLst>
                  <a:ext uri="{0D108BD9-81ED-4DB2-BD59-A6C34878D82A}">
                    <a16:rowId xmlns:a16="http://schemas.microsoft.com/office/drawing/2014/main" val="3796361074"/>
                  </a:ext>
                </a:extLst>
              </a:tr>
            </a:tbl>
          </a:graphicData>
        </a:graphic>
      </p:graphicFrame>
    </p:spTree>
    <p:extLst>
      <p:ext uri="{BB962C8B-B14F-4D97-AF65-F5344CB8AC3E}">
        <p14:creationId xmlns:p14="http://schemas.microsoft.com/office/powerpoint/2010/main" val="400218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F0109-8F6C-A2CA-D0F9-9733F39D5614}"/>
              </a:ext>
            </a:extLst>
          </p:cNvPr>
          <p:cNvSpPr>
            <a:spLocks noGrp="1"/>
          </p:cNvSpPr>
          <p:nvPr>
            <p:ph type="title"/>
          </p:nvPr>
        </p:nvSpPr>
        <p:spPr/>
        <p:txBody>
          <a:bodyPr/>
          <a:lstStyle/>
          <a:p>
            <a:r>
              <a:rPr lang="en-IN" dirty="0"/>
              <a:t>Software Architecture diagram</a:t>
            </a:r>
          </a:p>
        </p:txBody>
      </p:sp>
      <p:pic>
        <p:nvPicPr>
          <p:cNvPr id="4" name="Picture 3" descr="A diagram of a computer&#10;&#10;AI-generated content may be incorrect.">
            <a:extLst>
              <a:ext uri="{FF2B5EF4-FFF2-40B4-BE49-F238E27FC236}">
                <a16:creationId xmlns:a16="http://schemas.microsoft.com/office/drawing/2014/main" id="{7CBB842D-CFA7-2531-51FD-418AC9AE95F5}"/>
              </a:ext>
            </a:extLst>
          </p:cNvPr>
          <p:cNvPicPr>
            <a:picLocks noChangeAspect="1"/>
          </p:cNvPicPr>
          <p:nvPr/>
        </p:nvPicPr>
        <p:blipFill>
          <a:blip r:embed="rId2"/>
          <a:stretch>
            <a:fillRect/>
          </a:stretch>
        </p:blipFill>
        <p:spPr>
          <a:xfrm>
            <a:off x="3400913" y="1363091"/>
            <a:ext cx="4819192" cy="5129784"/>
          </a:xfrm>
          <a:prstGeom prst="rect">
            <a:avLst/>
          </a:prstGeom>
        </p:spPr>
      </p:pic>
    </p:spTree>
    <p:extLst>
      <p:ext uri="{BB962C8B-B14F-4D97-AF65-F5344CB8AC3E}">
        <p14:creationId xmlns:p14="http://schemas.microsoft.com/office/powerpoint/2010/main" val="1556611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431</TotalTime>
  <Words>759</Words>
  <Application>Microsoft Office PowerPoint</Application>
  <PresentationFormat>Widescreen</PresentationFormat>
  <Paragraphs>52</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Libre Franklin</vt:lpstr>
      <vt:lpstr>Sitka Heading</vt:lpstr>
      <vt:lpstr>Times New Roman</vt:lpstr>
      <vt:lpstr>Office Theme</vt:lpstr>
      <vt:lpstr>PowerPoint Presentation</vt:lpstr>
      <vt:lpstr>Abstract</vt:lpstr>
      <vt:lpstr>Existing System</vt:lpstr>
      <vt:lpstr>Demerits of existing system</vt:lpstr>
      <vt:lpstr>Proposed System</vt:lpstr>
      <vt:lpstr>Merits of the proposed system</vt:lpstr>
      <vt:lpstr>Software and hardware requirements </vt:lpstr>
      <vt:lpstr>Software Architecture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Shree Pranav S</dc:creator>
  <cp:lastModifiedBy>Shree Pranav S</cp:lastModifiedBy>
  <cp:revision>17</cp:revision>
  <dcterms:created xsi:type="dcterms:W3CDTF">2026-01-30T12:40:58Z</dcterms:created>
  <dcterms:modified xsi:type="dcterms:W3CDTF">2026-01-31T13:40:42Z</dcterms:modified>
</cp:coreProperties>
</file>